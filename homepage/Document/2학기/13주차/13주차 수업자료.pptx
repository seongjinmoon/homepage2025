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2" r:id="rId3"/>
    <p:sldId id="273" r:id="rId4"/>
    <p:sldId id="278" r:id="rId5"/>
    <p:sldId id="279" r:id="rId6"/>
    <p:sldId id="283" r:id="rId7"/>
    <p:sldId id="280" r:id="rId8"/>
    <p:sldId id="276" r:id="rId9"/>
    <p:sldId id="281" r:id="rId10"/>
    <p:sldId id="28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B90687-A733-4A9F-A6E7-F01927F25B5B}">
          <p14:sldIdLst>
            <p14:sldId id="274"/>
          </p14:sldIdLst>
        </p14:section>
        <p14:section name="엑셀다운로드" id="{FE0A3D05-F256-41ED-815C-DD84363F6000}">
          <p14:sldIdLst>
            <p14:sldId id="272"/>
            <p14:sldId id="273"/>
            <p14:sldId id="278"/>
          </p14:sldIdLst>
        </p14:section>
        <p14:section name="엑셀업로드" id="{09EA29B3-C293-488D-8896-86177CBDE34B}">
          <p14:sldIdLst>
            <p14:sldId id="279"/>
            <p14:sldId id="283"/>
            <p14:sldId id="280"/>
            <p14:sldId id="276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8EA09A-9DC1-497F-94F8-0108CBA4EBB0}"/>
              </a:ext>
            </a:extLst>
          </p:cNvPr>
          <p:cNvSpPr txBox="1"/>
          <p:nvPr/>
        </p:nvSpPr>
        <p:spPr>
          <a:xfrm>
            <a:off x="373225" y="401216"/>
            <a:ext cx="43011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관리자 예약정보 프로그램 </a:t>
            </a:r>
            <a:r>
              <a:rPr lang="en-US" altLang="ko-KR" dirty="0"/>
              <a:t>CRUD(</a:t>
            </a:r>
            <a:r>
              <a:rPr lang="ko-KR" altLang="en-US" dirty="0"/>
              <a:t>완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관리자 예약자 관리 </a:t>
            </a:r>
            <a:r>
              <a:rPr lang="en-US" altLang="ko-KR" dirty="0"/>
              <a:t>RUD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 예약정보 프로그램 </a:t>
            </a:r>
            <a:r>
              <a:rPr lang="en-US" altLang="ko-KR" dirty="0"/>
              <a:t>R(</a:t>
            </a:r>
            <a:r>
              <a:rPr lang="ko-KR" altLang="en-US" dirty="0"/>
              <a:t>완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 예약자 </a:t>
            </a:r>
            <a:r>
              <a:rPr lang="en-US" altLang="ko-KR" dirty="0"/>
              <a:t>C(</a:t>
            </a:r>
            <a:r>
              <a:rPr lang="ko-KR" altLang="en-US" dirty="0"/>
              <a:t>완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 예약자 </a:t>
            </a:r>
            <a:r>
              <a:rPr lang="en-US" altLang="ko-KR" dirty="0"/>
              <a:t>RUD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781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E03ACC-6ED6-489F-A70C-9B3EE3F8D068}"/>
              </a:ext>
            </a:extLst>
          </p:cNvPr>
          <p:cNvSpPr txBox="1"/>
          <p:nvPr/>
        </p:nvSpPr>
        <p:spPr>
          <a:xfrm>
            <a:off x="359066" y="917024"/>
            <a:ext cx="2936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ReservationApplyVO.java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43C4BF-D59F-47E2-B769-C549AA6DD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5" y="1312093"/>
            <a:ext cx="2124075" cy="457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C4140B3-3E3C-4DD9-BEF6-A7BF7B596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75" y="2357219"/>
            <a:ext cx="7391400" cy="39052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DCA27FA-D728-402B-A3B7-71F44AD35951}"/>
              </a:ext>
            </a:extLst>
          </p:cNvPr>
          <p:cNvSpPr/>
          <p:nvPr/>
        </p:nvSpPr>
        <p:spPr>
          <a:xfrm>
            <a:off x="518825" y="1987887"/>
            <a:ext cx="4319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 err="1"/>
              <a:t>ReservationAdminApplyController</a:t>
            </a:r>
            <a:r>
              <a:rPr lang="en-US" altLang="ko-KR" dirty="0"/>
              <a:t>.java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52F28-40B6-4008-9BEF-AD77C6C9314C}"/>
              </a:ext>
            </a:extLst>
          </p:cNvPr>
          <p:cNvSpPr txBox="1"/>
          <p:nvPr/>
        </p:nvSpPr>
        <p:spPr>
          <a:xfrm>
            <a:off x="268448" y="360727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JSP</a:t>
            </a:r>
            <a:r>
              <a:rPr lang="ko-KR" altLang="en-US" dirty="0"/>
              <a:t>방식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A5AE063-EE1C-4AF5-B546-E15476F51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832" y="4550721"/>
            <a:ext cx="2638425" cy="109537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E6DAB41-C616-4DA7-AAF2-4494F97F486F}"/>
              </a:ext>
            </a:extLst>
          </p:cNvPr>
          <p:cNvCxnSpPr>
            <a:endCxn id="10" idx="1"/>
          </p:cNvCxnSpPr>
          <p:nvPr/>
        </p:nvCxnSpPr>
        <p:spPr>
          <a:xfrm flipV="1">
            <a:off x="4924338" y="5098409"/>
            <a:ext cx="3476494" cy="228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24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E03ACC-6ED6-489F-A70C-9B3EE3F8D068}"/>
              </a:ext>
            </a:extLst>
          </p:cNvPr>
          <p:cNvSpPr txBox="1"/>
          <p:nvPr/>
        </p:nvSpPr>
        <p:spPr>
          <a:xfrm>
            <a:off x="359066" y="740856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pom.xml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6EF14-9071-4657-90C2-C42CB8CD28AF}"/>
              </a:ext>
            </a:extLst>
          </p:cNvPr>
          <p:cNvSpPr txBox="1"/>
          <p:nvPr/>
        </p:nvSpPr>
        <p:spPr>
          <a:xfrm>
            <a:off x="268448" y="360727"/>
            <a:ext cx="275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JAVA</a:t>
            </a:r>
            <a:r>
              <a:rPr lang="ko-KR" altLang="en-US" dirty="0"/>
              <a:t>방식</a:t>
            </a:r>
            <a:r>
              <a:rPr lang="en-US" altLang="ko-KR" dirty="0"/>
              <a:t>(</a:t>
            </a:r>
            <a:r>
              <a:rPr lang="ko-KR" altLang="en-US" dirty="0"/>
              <a:t>순서대로 생성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979DE2-45B7-4682-B9BC-525EFBB6E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015" y="1220706"/>
            <a:ext cx="2400300" cy="2286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6019CF2-B091-4B57-88E0-9DE0972DF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274" y="1220706"/>
            <a:ext cx="2266950" cy="10477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5DE5B7-6D2C-434B-8D14-FFBF51F5E138}"/>
              </a:ext>
            </a:extLst>
          </p:cNvPr>
          <p:cNvSpPr txBox="1"/>
          <p:nvPr/>
        </p:nvSpPr>
        <p:spPr>
          <a:xfrm>
            <a:off x="4310281" y="780939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파일 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4013DE-5AA2-A24D-DFFD-DA6739917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77" y="1293289"/>
            <a:ext cx="3656877" cy="97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6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2529C14-0422-4B9D-8E45-08A719BDB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50" y="95512"/>
            <a:ext cx="9839325" cy="27241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F29BFA9-3C6A-4671-BC39-DE2152587D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626"/>
          <a:stretch/>
        </p:blipFill>
        <p:spPr>
          <a:xfrm>
            <a:off x="329050" y="3037164"/>
            <a:ext cx="6858000" cy="33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6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09D3134-D76B-44A5-B25F-7C9FB516AFC5}"/>
              </a:ext>
            </a:extLst>
          </p:cNvPr>
          <p:cNvSpPr/>
          <p:nvPr/>
        </p:nvSpPr>
        <p:spPr>
          <a:xfrm>
            <a:off x="16778" y="0"/>
            <a:ext cx="12192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CREATE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RESVEREQSTINFOTEMP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REQSTTEMP_ID 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NOT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REQST_ID     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RESVE_ID     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RESVE_DE  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CHARGER_NM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50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TELNO     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15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EMAIL     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50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CONFM_SE_CODE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CONFMER_ID           </a:t>
            </a:r>
            <a:r>
              <a:rPr lang="sv-SE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sv-SE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sv-SE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sv-SE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RETURN_RESN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4000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CONFM_PNTTM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CREAT_IP      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20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USE_AT               </a:t>
            </a:r>
            <a:r>
              <a:rPr lang="en-US" altLang="ko-KR" dirty="0">
                <a:solidFill>
                  <a:srgbClr val="FF00FF"/>
                </a:solidFill>
                <a:latin typeface="Courier New" panose="02070309020205020404" pitchFamily="49" charset="0"/>
              </a:rPr>
              <a:t>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FRST_REGIST_PNTTM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FRST_REGISTER_ID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LAST_UPDT_PNTTM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DATETIME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LAST_UPDUSR_ID       </a:t>
            </a:r>
            <a:r>
              <a:rPr lang="en-US" altLang="ko-KR" b="1" dirty="0">
                <a:solidFill>
                  <a:srgbClr val="000000"/>
                </a:solidFill>
                <a:latin typeface="Courier New" panose="02070309020205020404" pitchFamily="49" charset="0"/>
              </a:rPr>
              <a:t>VARCHAR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100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NULL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ALTER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TABLE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RESVEREQSTINFOTEMP COMMENT 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=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ko-KR" altLang="en-US" dirty="0" err="1">
                <a:solidFill>
                  <a:srgbClr val="FF0000"/>
                </a:solidFill>
                <a:latin typeface="Courier New" panose="02070309020205020404" pitchFamily="49" charset="0"/>
              </a:rPr>
              <a:t>신청정보임시</a:t>
            </a:r>
            <a:r>
              <a:rPr lang="en-US" altLang="ko-KR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altLang="ko-KR" dirty="0">
                <a:solidFill>
                  <a:srgbClr val="808080"/>
                </a:solidFill>
                <a:latin typeface="Courier New" panose="02070309020205020404" pitchFamily="49" charset="0"/>
              </a:rPr>
              <a:t>;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3ABDEE3-A0EE-4B8F-8C16-1CBBF188C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285" y="467948"/>
            <a:ext cx="2924175" cy="34671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CAD4D4B-A3EA-452A-998E-C7BC6B5EE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967" y="467948"/>
            <a:ext cx="132397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72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4036A3-087C-4036-962B-81EF8A7B996A}"/>
              </a:ext>
            </a:extLst>
          </p:cNvPr>
          <p:cNvSpPr/>
          <p:nvPr/>
        </p:nvSpPr>
        <p:spPr>
          <a:xfrm>
            <a:off x="103367" y="-306691"/>
            <a:ext cx="12192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dirty="0"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RESVEREQSTINFOTEMP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COLUMN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REQSTTEMP_ID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REQSTTEMP_ID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임시신청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ID’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altLang="ko-KR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(</a:t>
            </a:r>
            <a:r>
              <a:rPr lang="ko-KR" altLang="en-US" b="1" dirty="0">
                <a:solidFill>
                  <a:srgbClr val="800000"/>
                </a:solidFill>
                <a:latin typeface="Consolas" panose="020B0609020204030204" pitchFamily="49" charset="0"/>
              </a:rPr>
              <a:t>이하 앞에 내용 </a:t>
            </a:r>
            <a:r>
              <a:rPr lang="ko-KR" altLang="en-US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전체동일</a:t>
            </a:r>
            <a:r>
              <a:rPr lang="ko-KR" altLang="en-US" b="1" dirty="0">
                <a:solidFill>
                  <a:srgbClr val="8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ALTER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RESVEREQSTINFOTEMP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CHANGE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COLUMN ~~~)</a:t>
            </a:r>
            <a:endParaRPr lang="en-US" altLang="ko-KR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endParaRPr lang="en-US" altLang="ko-KR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REQST_ID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REQST_ID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신청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ID'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RESVE_ID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RESVE_ID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예약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ID'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RESVE_DE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RESVE_DE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신청구분코드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CHARGER_NM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CHARGER_NM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50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신청자명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TELNO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TELNO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15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전화번호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EMAIL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50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이메일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CONFM_SE_CODE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CONFM_SE_CODE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승인구분코드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CONFMER_ID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CONFMER_ID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승인자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ID'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RETURN_RESN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RETURN_RESN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4000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반려사유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CONFM_PNTTM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CONFM_PNTTM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DATETIME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승인시점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CREAT_IP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CREAT_IP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20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생성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IP'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USE_AT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USE_AT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사용여부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FRST_REGIST_PNTTM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FRST_REGIST_PNTTM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DATETIME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최초등록시점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FRST_REGISTER_ID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FRST_REGISTER_ID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최초등록자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ID'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LAST_UPDT_PNTTM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LAST_UPDT_PNTTM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DATETIME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최종수정시점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LAST_UPDUSR_ID </a:t>
            </a:r>
            <a:r>
              <a:rPr lang="en-US" altLang="ko-K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LAST_UPDUSR_ID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000080"/>
                </a:solidFill>
                <a:latin typeface="Consolas" panose="020B0609020204030204" pitchFamily="49" charset="0"/>
              </a:rPr>
              <a:t>VARCHAR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b="1" dirty="0">
                <a:solidFill>
                  <a:srgbClr val="0000FF"/>
                </a:solidFill>
                <a:latin typeface="Consolas" panose="020B0609020204030204" pitchFamily="49" charset="0"/>
              </a:rPr>
              <a:t>100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NULL</a:t>
            </a:r>
            <a:r>
              <a:rPr lang="en-US" altLang="ko-KR" b="1" dirty="0">
                <a:solidFill>
                  <a:srgbClr val="000000"/>
                </a:solidFill>
                <a:latin typeface="Consolas" panose="020B0609020204030204" pitchFamily="49" charset="0"/>
              </a:rPr>
              <a:t> COMMENT 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최종수정자</a:t>
            </a:r>
            <a:r>
              <a:rPr lang="en-US" altLang="ko-KR" b="1" dirty="0">
                <a:solidFill>
                  <a:srgbClr val="008000"/>
                </a:solidFill>
                <a:latin typeface="Consolas" panose="020B0609020204030204" pitchFamily="49" charset="0"/>
              </a:rPr>
              <a:t>ID'</a:t>
            </a:r>
            <a:r>
              <a:rPr lang="en-US" altLang="ko-KR" b="1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071008-783A-4EF2-B3BD-CFF5CE89BD3B}"/>
              </a:ext>
            </a:extLst>
          </p:cNvPr>
          <p:cNvSpPr/>
          <p:nvPr/>
        </p:nvSpPr>
        <p:spPr>
          <a:xfrm>
            <a:off x="190831" y="1431233"/>
            <a:ext cx="357809" cy="42857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528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3B1371D-053D-45B9-B603-82DEAA920785}"/>
              </a:ext>
            </a:extLst>
          </p:cNvPr>
          <p:cNvSpPr/>
          <p:nvPr/>
        </p:nvSpPr>
        <p:spPr>
          <a:xfrm>
            <a:off x="288022" y="34125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ids(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  TABLE_NAME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 ,NEXT_ID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 </a:t>
            </a:r>
            <a:r>
              <a:rPr lang="en-US" altLang="ko-KR" dirty="0">
                <a:solidFill>
                  <a:srgbClr val="0000FF"/>
                </a:solidFill>
                <a:latin typeface="Courier New" panose="02070309020205020404" pitchFamily="49" charset="0"/>
              </a:rPr>
              <a:t>VALUES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altLang="ko-KR" dirty="0">
                <a:solidFill>
                  <a:srgbClr val="FF0000"/>
                </a:solidFill>
                <a:latin typeface="Courier New" panose="02070309020205020404" pitchFamily="49" charset="0"/>
              </a:rPr>
              <a:t>'RQTTEMP_ID'</a:t>
            </a:r>
            <a:endParaRPr lang="en-US" altLang="ko-KR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ko-KR" b="1" dirty="0">
                <a:solidFill>
                  <a:srgbClr val="800000"/>
                </a:solidFill>
                <a:latin typeface="Courier New" panose="02070309020205020404" pitchFamily="49" charset="0"/>
              </a:rPr>
              <a:t>1</a:t>
            </a:r>
            <a:endParaRPr lang="ko-KR" alt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17564B-DE94-4559-91A8-917094DB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72" y="2928080"/>
            <a:ext cx="6038850" cy="3114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6DB62D-A5B6-4448-8BB6-F4EA5D2DE0A5}"/>
              </a:ext>
            </a:extLst>
          </p:cNvPr>
          <p:cNvSpPr txBox="1"/>
          <p:nvPr/>
        </p:nvSpPr>
        <p:spPr>
          <a:xfrm>
            <a:off x="288022" y="2558748"/>
            <a:ext cx="2224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context-idgen.xml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A00B99-6A41-467A-96C3-8286394EF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372" y="884334"/>
            <a:ext cx="3295650" cy="39052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C1DB2A8-C652-488A-AA88-166DA395614D}"/>
              </a:ext>
            </a:extLst>
          </p:cNvPr>
          <p:cNvSpPr/>
          <p:nvPr/>
        </p:nvSpPr>
        <p:spPr>
          <a:xfrm>
            <a:off x="6799179" y="341258"/>
            <a:ext cx="4369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 err="1"/>
              <a:t>ReservationApplyServiceImpl</a:t>
            </a:r>
            <a:r>
              <a:rPr lang="en-US" altLang="ko-KR" dirty="0"/>
              <a:t>.java </a:t>
            </a:r>
            <a:r>
              <a:rPr lang="ko-KR" altLang="en-US" dirty="0"/>
              <a:t>추가</a:t>
            </a:r>
          </a:p>
        </p:txBody>
      </p:sp>
    </p:spTree>
    <p:extLst>
      <p:ext uri="{BB962C8B-B14F-4D97-AF65-F5344CB8AC3E}">
        <p14:creationId xmlns:p14="http://schemas.microsoft.com/office/powerpoint/2010/main" val="1339097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4DAF7E-3178-4415-AA75-183B771ED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20" y="872763"/>
            <a:ext cx="10182225" cy="4476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4AB316E-AC09-41E7-9F3E-328A4A0CFE5E}"/>
              </a:ext>
            </a:extLst>
          </p:cNvPr>
          <p:cNvSpPr/>
          <p:nvPr/>
        </p:nvSpPr>
        <p:spPr>
          <a:xfrm>
            <a:off x="498620" y="283021"/>
            <a:ext cx="2222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 err="1"/>
              <a:t>globals.properties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ACEBE7-8B0D-47DF-8414-821D099A3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88" y="5766162"/>
            <a:ext cx="3276600" cy="4381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D6871AA-5FF4-4C1A-A006-EDCA4B6E0DC4}"/>
              </a:ext>
            </a:extLst>
          </p:cNvPr>
          <p:cNvSpPr/>
          <p:nvPr/>
        </p:nvSpPr>
        <p:spPr>
          <a:xfrm>
            <a:off x="498620" y="2214784"/>
            <a:ext cx="2696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context-properties.xml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76AB10-1569-45C3-AB6F-AA1DCD39D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20" y="2645328"/>
            <a:ext cx="95821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55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8983CB5-681B-4AAD-AC8D-9C9FAB12A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72" y="393278"/>
            <a:ext cx="1495425" cy="3333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901112-4FC2-4CCC-9789-BE1EB3480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72" y="1138719"/>
            <a:ext cx="36671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5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071430D-4C46-4216-B95E-4A313F953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8" y="584912"/>
            <a:ext cx="2514600" cy="21621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8CF555E-F950-477D-B487-BAF06FD4E103}"/>
              </a:ext>
            </a:extLst>
          </p:cNvPr>
          <p:cNvSpPr/>
          <p:nvPr/>
        </p:nvSpPr>
        <p:spPr>
          <a:xfrm>
            <a:off x="305898" y="132018"/>
            <a:ext cx="2805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 err="1"/>
              <a:t>JsonResponse</a:t>
            </a:r>
            <a:r>
              <a:rPr lang="en-US" altLang="ko-KR" dirty="0"/>
              <a:t>.java </a:t>
            </a:r>
            <a:r>
              <a:rPr lang="ko-KR" altLang="en-US" dirty="0"/>
              <a:t>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1179B6-39F4-49F4-B983-AB02D02F9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738" y="571500"/>
            <a:ext cx="7305675" cy="5715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5B44926-23C3-4149-82AF-B78FA23CFAAF}"/>
              </a:ext>
            </a:extLst>
          </p:cNvPr>
          <p:cNvSpPr/>
          <p:nvPr/>
        </p:nvSpPr>
        <p:spPr>
          <a:xfrm>
            <a:off x="4137738" y="132018"/>
            <a:ext cx="2061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 err="1"/>
              <a:t>엑셀업로드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402430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2926</TotalTime>
  <Words>544</Words>
  <Application>Microsoft Office PowerPoint</Application>
  <PresentationFormat>와이드스크린</PresentationFormat>
  <Paragraphs>67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Consolas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50</cp:revision>
  <dcterms:created xsi:type="dcterms:W3CDTF">2021-08-31T12:05:11Z</dcterms:created>
  <dcterms:modified xsi:type="dcterms:W3CDTF">2025-11-11T12:33:51Z</dcterms:modified>
</cp:coreProperties>
</file>