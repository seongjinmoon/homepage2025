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72" r:id="rId3"/>
    <p:sldId id="273" r:id="rId4"/>
    <p:sldId id="278" r:id="rId5"/>
    <p:sldId id="260" r:id="rId6"/>
    <p:sldId id="279" r:id="rId7"/>
    <p:sldId id="283" r:id="rId8"/>
    <p:sldId id="280" r:id="rId9"/>
    <p:sldId id="281" r:id="rId10"/>
    <p:sldId id="276" r:id="rId11"/>
    <p:sldId id="287" r:id="rId12"/>
    <p:sldId id="285" r:id="rId13"/>
    <p:sldId id="282" r:id="rId14"/>
    <p:sldId id="284" r:id="rId15"/>
    <p:sldId id="28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1B90687-A733-4A9F-A6E7-F01927F25B5B}">
          <p14:sldIdLst>
            <p14:sldId id="274"/>
          </p14:sldIdLst>
        </p14:section>
        <p14:section name="엑셀다운로드" id="{FE0A3D05-F256-41ED-815C-DD84363F6000}">
          <p14:sldIdLst>
            <p14:sldId id="272"/>
            <p14:sldId id="273"/>
            <p14:sldId id="278"/>
          </p14:sldIdLst>
        </p14:section>
        <p14:section name="엑셀업로드" id="{09EA29B3-C293-488D-8896-86177CBDE34B}">
          <p14:sldIdLst>
            <p14:sldId id="260"/>
            <p14:sldId id="279"/>
            <p14:sldId id="283"/>
            <p14:sldId id="280"/>
            <p14:sldId id="281"/>
            <p14:sldId id="276"/>
            <p14:sldId id="287"/>
            <p14:sldId id="285"/>
            <p14:sldId id="282"/>
            <p14:sldId id="284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150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5827A3-46B8-4B39-BA91-DB0A61F398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01E4CC-D042-4C74-B54E-F83EB477A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81B216-D194-44A2-B0D7-6CA0DDA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A88FC0-CE33-42BA-917E-604ADB640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0B751A-1F40-4EA5-A202-D5C9F517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904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8DF99-1F06-4E22-9A5F-B1714467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D3305D-C2C6-40C6-BFAE-B9E58285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71C3BB-62D6-4996-9AC9-D189BA61C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B75F2-DABE-4CCD-A5AD-46162FADD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CCF931-01B5-4A2C-8B09-5CF2E8C1A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9728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A9426-65A2-4900-8990-E97634B12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C2BE9D-6028-41A2-AF02-F973A5EB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FF85CC-78DA-436E-9922-FE080ADA2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0F6C4-6712-4517-ADCA-D1872AEFB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62A118-48EF-4AAE-89D3-300AF33C7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476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08B45-E47B-4FA8-8DCD-C88D1A40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CFD435-2456-425B-9C80-C852C88F02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46F69E7-215C-41ED-AA7D-D7479F6DE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838010-E7A1-48A3-B63D-D9C9E252C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2BAAAC-5678-4C64-82A9-E4E4996D9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33D76DC-C04D-4EA4-8AF4-C4183C5AB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980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BB1966-134E-4F56-A3F1-5ABC56276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83B9F7-7971-42C7-AE7D-BE6073FE6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9848D5-2B6F-4EF5-BC66-F8795CE1DC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3E0536E-51A8-4F13-9439-88494FB78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37C80D3-735A-456E-B4E7-840C90DD49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46BB32-90FA-4329-944D-AC4E3C4EB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BAA552-620D-4703-BE4C-931025586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146F76-4068-4E54-B7EC-A64575126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13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F878C5-B0B8-406B-84FF-91919C1E4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A6B6181-4370-4457-979E-FA9FBC66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DEB2AC-8C2D-49D2-A8A2-063078F29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EEDC0D-D5D8-410A-B44E-CE89C9D0E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05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61E76A5-B244-4D0B-9D93-42271AAB1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773A6E3-40DB-422E-B234-188FB5B07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5E9C80-56E9-41F6-B805-3D07E5E4E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631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91874-8CFF-484D-89D8-F96BF5F33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CD275F-93FC-4953-97C2-3425132F5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D0687E-9FCA-447C-8F60-2C7449E7E2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737EEF-E97C-4A2F-B39F-D178C8EAC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396D2D-E3F9-4F7F-9980-902F7E985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9FC6F9-45F2-45C9-ABAA-84231DB59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267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295EF-F612-4021-AC9A-B492CFC3A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35DE248-AC64-4650-97D1-800C459E6E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31CD01-F10B-4D6C-97F3-0A3694EF53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ABD51D-4497-4A89-80EC-9FE8D4FC4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DFC22A-DADC-48B3-8A30-DE2E9B6B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E80F3F-A7CA-49F5-84E2-9348BEEAB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3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0FEF7-7572-4A57-9549-48EEBD23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165AA1-7191-42FB-AB0C-22E6105C68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450619-4396-483B-A213-1ED17E8B3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8CFFF4-0A26-4FC2-BD2F-5DFC5DBB6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BFD6D-9BC7-4B62-BF98-32F9958B6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200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01CDCA-6367-41B0-8741-2ED849916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99DC18-D558-4341-9E0C-BA303F2BC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CA2E15-C907-4FCB-A9EC-DE3660580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492E68-A28B-434E-96D7-DE024916A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8B6D29-849E-4192-A3B7-2D99E6797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1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86DFD78-0084-4CE6-8E15-BB1973663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707C84-37D3-4FEC-B1F3-860E83182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272FB5-8C95-4443-A169-36E74C5421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B44BF-B9BC-47EE-A280-23436178F2B8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A2DFB5-EA44-4D9B-A815-5B4987955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E1CFAF-C47C-4F71-90CA-F51287A9C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03A6B-8277-4380-89CD-E67BF0B31A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628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8EA09A-9DC1-497F-94F8-0108CBA4EBB0}"/>
              </a:ext>
            </a:extLst>
          </p:cNvPr>
          <p:cNvSpPr txBox="1"/>
          <p:nvPr/>
        </p:nvSpPr>
        <p:spPr>
          <a:xfrm>
            <a:off x="373225" y="401216"/>
            <a:ext cx="43011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관리자 예약정보 프로그램 </a:t>
            </a:r>
            <a:r>
              <a:rPr lang="en-US" altLang="ko-KR" dirty="0"/>
              <a:t>CRUD(</a:t>
            </a:r>
            <a:r>
              <a:rPr lang="ko-KR" altLang="en-US" dirty="0"/>
              <a:t>완</a:t>
            </a:r>
            <a:r>
              <a:rPr lang="en-US" altLang="ko-KR" dirty="0"/>
              <a:t>)</a:t>
            </a:r>
          </a:p>
          <a:p>
            <a:pPr marL="342900" indent="-342900">
              <a:buAutoNum type="arabicPeriod"/>
            </a:pPr>
            <a:r>
              <a:rPr lang="ko-KR" altLang="en-US" dirty="0"/>
              <a:t>관리자 예약자 관리 </a:t>
            </a:r>
            <a:r>
              <a:rPr lang="en-US" altLang="ko-KR" dirty="0"/>
              <a:t>RUD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사용자 예약정보 프로그램 </a:t>
            </a:r>
            <a:r>
              <a:rPr lang="en-US" altLang="ko-KR" dirty="0"/>
              <a:t>R(</a:t>
            </a:r>
            <a:r>
              <a:rPr lang="ko-KR" altLang="en-US" dirty="0"/>
              <a:t>완</a:t>
            </a:r>
            <a:r>
              <a:rPr lang="en-US" altLang="ko-KR" dirty="0"/>
              <a:t>)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사용자 예약자 </a:t>
            </a:r>
            <a:r>
              <a:rPr lang="en-US" altLang="ko-KR" dirty="0"/>
              <a:t>C(</a:t>
            </a:r>
            <a:r>
              <a:rPr lang="ko-KR" altLang="en-US" dirty="0"/>
              <a:t>완</a:t>
            </a:r>
            <a:r>
              <a:rPr lang="en-US" altLang="ko-KR" dirty="0"/>
              <a:t>)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사용자 예약자 </a:t>
            </a:r>
            <a:r>
              <a:rPr lang="en-US" altLang="ko-KR" dirty="0"/>
              <a:t>RUD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815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E03ACC-6ED6-489F-A70C-9B3EE3F8D068}"/>
              </a:ext>
            </a:extLst>
          </p:cNvPr>
          <p:cNvSpPr txBox="1"/>
          <p:nvPr/>
        </p:nvSpPr>
        <p:spPr>
          <a:xfrm>
            <a:off x="359066" y="917024"/>
            <a:ext cx="2936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 ReservationApplyVO.java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543C4BF-D59F-47E2-B769-C549AA6DD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5" y="1312093"/>
            <a:ext cx="2124075" cy="4572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C4140B3-3E3C-4DD9-BEF6-A7BF7B596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575" y="2357219"/>
            <a:ext cx="7391400" cy="390525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DCA27FA-D728-402B-A3B7-71F44AD35951}"/>
              </a:ext>
            </a:extLst>
          </p:cNvPr>
          <p:cNvSpPr/>
          <p:nvPr/>
        </p:nvSpPr>
        <p:spPr>
          <a:xfrm>
            <a:off x="518825" y="1987887"/>
            <a:ext cx="43193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ReservationAdminApplyController</a:t>
            </a:r>
            <a:r>
              <a:rPr lang="en-US" altLang="ko-KR" dirty="0"/>
              <a:t>.java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952F28-40B6-4008-9BEF-AD77C6C9314C}"/>
              </a:ext>
            </a:extLst>
          </p:cNvPr>
          <p:cNvSpPr txBox="1"/>
          <p:nvPr/>
        </p:nvSpPr>
        <p:spPr>
          <a:xfrm>
            <a:off x="268448" y="360727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JSP</a:t>
            </a:r>
            <a:r>
              <a:rPr lang="ko-KR" altLang="en-US" dirty="0"/>
              <a:t>방식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A5AE063-EE1C-4AF5-B546-E15476F51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832" y="4550721"/>
            <a:ext cx="2638425" cy="109537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E6DAB41-C616-4DA7-AAF2-4494F97F486F}"/>
              </a:ext>
            </a:extLst>
          </p:cNvPr>
          <p:cNvCxnSpPr>
            <a:endCxn id="10" idx="1"/>
          </p:cNvCxnSpPr>
          <p:nvPr/>
        </p:nvCxnSpPr>
        <p:spPr>
          <a:xfrm flipV="1">
            <a:off x="4924338" y="5098409"/>
            <a:ext cx="3476494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47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E03ACC-6ED6-489F-A70C-9B3EE3F8D068}"/>
              </a:ext>
            </a:extLst>
          </p:cNvPr>
          <p:cNvSpPr txBox="1"/>
          <p:nvPr/>
        </p:nvSpPr>
        <p:spPr>
          <a:xfrm>
            <a:off x="359066" y="740856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 pom.xml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16EF14-9071-4657-90C2-C42CB8CD28AF}"/>
              </a:ext>
            </a:extLst>
          </p:cNvPr>
          <p:cNvSpPr txBox="1"/>
          <p:nvPr/>
        </p:nvSpPr>
        <p:spPr>
          <a:xfrm>
            <a:off x="268448" y="360727"/>
            <a:ext cx="2755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JAVA</a:t>
            </a:r>
            <a:r>
              <a:rPr lang="ko-KR" altLang="en-US" dirty="0"/>
              <a:t>방식</a:t>
            </a:r>
            <a:r>
              <a:rPr lang="en-US" altLang="ko-KR" dirty="0"/>
              <a:t>(</a:t>
            </a:r>
            <a:r>
              <a:rPr lang="ko-KR" altLang="en-US" dirty="0"/>
              <a:t>순서대로 생성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979DE2-45B7-4682-B9BC-525EFBB6E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2015" y="1220706"/>
            <a:ext cx="2400300" cy="2286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6019CF2-B091-4B57-88E0-9DE0972DF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274" y="1220706"/>
            <a:ext cx="2266950" cy="10477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F5DE5B7-6D2C-434B-8D14-FFBF51F5E138}"/>
              </a:ext>
            </a:extLst>
          </p:cNvPr>
          <p:cNvSpPr txBox="1"/>
          <p:nvPr/>
        </p:nvSpPr>
        <p:spPr>
          <a:xfrm>
            <a:off x="4310281" y="780939"/>
            <a:ext cx="1369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/>
              <a:t>파일 생성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34013DE-5AA2-A24D-DFFD-DA6739917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77" y="1293289"/>
            <a:ext cx="3656877" cy="97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665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2529C14-0422-4B9D-8E45-08A719BDB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50" y="95512"/>
            <a:ext cx="9839325" cy="27241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29BFA9-3C6A-4671-BC39-DE2152587D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5626"/>
          <a:stretch/>
        </p:blipFill>
        <p:spPr>
          <a:xfrm>
            <a:off x="329050" y="3037164"/>
            <a:ext cx="6858000" cy="33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6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DD7B584D-3866-4A67-AD76-209306499FFB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2487930" y="1116330"/>
            <a:ext cx="1832610" cy="19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4762F075-CA97-4BE5-A149-F0A7228DA68A}"/>
              </a:ext>
            </a:extLst>
          </p:cNvPr>
          <p:cNvSpPr/>
          <p:nvPr/>
        </p:nvSpPr>
        <p:spPr>
          <a:xfrm>
            <a:off x="1236345" y="768190"/>
            <a:ext cx="1251585" cy="70008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FC2B610-395D-466D-A4BE-D09AF22DE2E2}"/>
              </a:ext>
            </a:extLst>
          </p:cNvPr>
          <p:cNvSpPr/>
          <p:nvPr/>
        </p:nvSpPr>
        <p:spPr>
          <a:xfrm>
            <a:off x="4320540" y="830580"/>
            <a:ext cx="166497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엑셀업로드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7095C8D-BE22-43C8-8ABD-3550898F9AFF}"/>
              </a:ext>
            </a:extLst>
          </p:cNvPr>
          <p:cNvSpPr/>
          <p:nvPr/>
        </p:nvSpPr>
        <p:spPr>
          <a:xfrm>
            <a:off x="8313420" y="830580"/>
            <a:ext cx="166497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서버에 파일 생성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3E198C-D8DE-4CD5-8A4A-42ACE74DD483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5985510" y="1116330"/>
            <a:ext cx="232791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순서도: 판단 28">
            <a:extLst>
              <a:ext uri="{FF2B5EF4-FFF2-40B4-BE49-F238E27FC236}">
                <a16:creationId xmlns:a16="http://schemas.microsoft.com/office/drawing/2014/main" id="{04C5A0A0-679C-4A4F-AE4B-4330A3CAE728}"/>
              </a:ext>
            </a:extLst>
          </p:cNvPr>
          <p:cNvSpPr/>
          <p:nvPr/>
        </p:nvSpPr>
        <p:spPr>
          <a:xfrm>
            <a:off x="7837170" y="2548890"/>
            <a:ext cx="2617470" cy="1333500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 err="1">
                <a:solidFill>
                  <a:schemeClr val="bg1"/>
                </a:solidFill>
              </a:rPr>
              <a:t>파일업로드</a:t>
            </a:r>
            <a:endParaRPr lang="en-US" altLang="ko-KR" sz="1700" dirty="0">
              <a:solidFill>
                <a:schemeClr val="bg1"/>
              </a:solidFill>
            </a:endParaRPr>
          </a:p>
          <a:p>
            <a:pPr algn="ctr"/>
            <a:r>
              <a:rPr lang="ko-KR" altLang="en-US" sz="1700" dirty="0">
                <a:solidFill>
                  <a:schemeClr val="bg1"/>
                </a:solidFill>
              </a:rPr>
              <a:t>성공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20BF5EC-EA7D-4E1A-93A1-129913ED6400}"/>
              </a:ext>
            </a:extLst>
          </p:cNvPr>
          <p:cNvCxnSpPr>
            <a:cxnSpLocks/>
            <a:stCxn id="22" idx="2"/>
            <a:endCxn id="29" idx="0"/>
          </p:cNvCxnSpPr>
          <p:nvPr/>
        </p:nvCxnSpPr>
        <p:spPr>
          <a:xfrm>
            <a:off x="9145905" y="1402080"/>
            <a:ext cx="0" cy="11468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6F53C13-A868-4CF4-98C0-648A40A0A2F8}"/>
              </a:ext>
            </a:extLst>
          </p:cNvPr>
          <p:cNvSpPr/>
          <p:nvPr/>
        </p:nvSpPr>
        <p:spPr>
          <a:xfrm>
            <a:off x="4320540" y="2929890"/>
            <a:ext cx="177546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데이터 </a:t>
            </a:r>
            <a:r>
              <a:rPr lang="en-US" altLang="ko-KR" dirty="0">
                <a:solidFill>
                  <a:schemeClr val="tx1"/>
                </a:solidFill>
              </a:rPr>
              <a:t>Vali</a:t>
            </a:r>
            <a:r>
              <a:rPr lang="ko-KR" altLang="en-US" dirty="0">
                <a:solidFill>
                  <a:schemeClr val="tx1"/>
                </a:solidFill>
              </a:rPr>
              <a:t>체크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F0E2488-1604-42EA-8858-38465FAE08C7}"/>
              </a:ext>
            </a:extLst>
          </p:cNvPr>
          <p:cNvCxnSpPr>
            <a:cxnSpLocks/>
            <a:stCxn id="29" idx="1"/>
            <a:endCxn id="37" idx="3"/>
          </p:cNvCxnSpPr>
          <p:nvPr/>
        </p:nvCxnSpPr>
        <p:spPr>
          <a:xfrm flipH="1">
            <a:off x="6096000" y="3215640"/>
            <a:ext cx="174117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96D257C-3B79-42A1-8B95-0AF779B9579D}"/>
              </a:ext>
            </a:extLst>
          </p:cNvPr>
          <p:cNvSpPr/>
          <p:nvPr/>
        </p:nvSpPr>
        <p:spPr>
          <a:xfrm>
            <a:off x="1097280" y="2929890"/>
            <a:ext cx="177546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임시테이블에 데이터 저장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0B5E-1E25-4C57-A93C-2FA6D7FBB8CE}"/>
              </a:ext>
            </a:extLst>
          </p:cNvPr>
          <p:cNvSpPr txBox="1"/>
          <p:nvPr/>
        </p:nvSpPr>
        <p:spPr>
          <a:xfrm>
            <a:off x="7353300" y="292989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성공</a:t>
            </a:r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4FCAECD7-4DC9-428A-9D68-C25024FDB913}"/>
              </a:ext>
            </a:extLst>
          </p:cNvPr>
          <p:cNvCxnSpPr>
            <a:cxnSpLocks/>
            <a:endCxn id="16" idx="0"/>
          </p:cNvCxnSpPr>
          <p:nvPr/>
        </p:nvCxnSpPr>
        <p:spPr>
          <a:xfrm rot="10800000">
            <a:off x="5153026" y="830580"/>
            <a:ext cx="5339717" cy="2385060"/>
          </a:xfrm>
          <a:prstGeom prst="bentConnector4">
            <a:avLst>
              <a:gd name="adj1" fmla="val -14020"/>
              <a:gd name="adj2" fmla="val 10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157D4E6-0ED9-4196-A10A-081A74DA1272}"/>
              </a:ext>
            </a:extLst>
          </p:cNvPr>
          <p:cNvSpPr txBox="1"/>
          <p:nvPr/>
        </p:nvSpPr>
        <p:spPr>
          <a:xfrm>
            <a:off x="10382398" y="292989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실패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D10AFA5-2B7F-4CBD-9973-4B9391112EDB}"/>
              </a:ext>
            </a:extLst>
          </p:cNvPr>
          <p:cNvCxnSpPr>
            <a:cxnSpLocks/>
            <a:stCxn id="37" idx="1"/>
            <a:endCxn id="42" idx="3"/>
          </p:cNvCxnSpPr>
          <p:nvPr/>
        </p:nvCxnSpPr>
        <p:spPr>
          <a:xfrm flipH="1">
            <a:off x="2872740" y="3215640"/>
            <a:ext cx="14478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4CC77D7-65B8-4417-801D-03A3CF01A898}"/>
              </a:ext>
            </a:extLst>
          </p:cNvPr>
          <p:cNvSpPr/>
          <p:nvPr/>
        </p:nvSpPr>
        <p:spPr>
          <a:xfrm>
            <a:off x="1009356" y="4596669"/>
            <a:ext cx="1958340" cy="99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INSERT INTO SELECT</a:t>
            </a:r>
            <a:r>
              <a:rPr lang="ko-KR" altLang="en-US" dirty="0">
                <a:solidFill>
                  <a:schemeClr val="tx1"/>
                </a:solidFill>
              </a:rPr>
              <a:t>로 테이블에 일괄 저장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87639A2-E644-46CB-A674-E8AEA3518DBF}"/>
              </a:ext>
            </a:extLst>
          </p:cNvPr>
          <p:cNvCxnSpPr>
            <a:cxnSpLocks/>
            <a:stCxn id="42" idx="2"/>
            <a:endCxn id="55" idx="0"/>
          </p:cNvCxnSpPr>
          <p:nvPr/>
        </p:nvCxnSpPr>
        <p:spPr>
          <a:xfrm>
            <a:off x="1985010" y="3501390"/>
            <a:ext cx="3516" cy="10952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579BEDC9-592E-4FAB-872F-B0D5BCFB0A6E}"/>
              </a:ext>
            </a:extLst>
          </p:cNvPr>
          <p:cNvCxnSpPr>
            <a:cxnSpLocks/>
            <a:stCxn id="55" idx="3"/>
            <a:endCxn id="74" idx="2"/>
          </p:cNvCxnSpPr>
          <p:nvPr/>
        </p:nvCxnSpPr>
        <p:spPr>
          <a:xfrm flipV="1">
            <a:off x="2967696" y="5082199"/>
            <a:ext cx="5199039" cy="120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231E8957-1297-4387-BF8F-1AB2BB640788}"/>
              </a:ext>
            </a:extLst>
          </p:cNvPr>
          <p:cNvSpPr txBox="1"/>
          <p:nvPr/>
        </p:nvSpPr>
        <p:spPr>
          <a:xfrm>
            <a:off x="128938" y="163650"/>
            <a:ext cx="211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엑셀업로드</a:t>
            </a:r>
            <a:r>
              <a:rPr lang="en-US" altLang="ko-KR" dirty="0"/>
              <a:t> </a:t>
            </a:r>
            <a:r>
              <a:rPr lang="ko-KR" altLang="en-US" dirty="0"/>
              <a:t>흐름도</a:t>
            </a: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882CD6B8-8481-4CBE-BAE5-E26FA1CF7AB4}"/>
              </a:ext>
            </a:extLst>
          </p:cNvPr>
          <p:cNvSpPr/>
          <p:nvPr/>
        </p:nvSpPr>
        <p:spPr>
          <a:xfrm>
            <a:off x="8166735" y="4732155"/>
            <a:ext cx="2040255" cy="70008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완료여부 메시지 표출</a:t>
            </a:r>
          </a:p>
        </p:txBody>
      </p:sp>
    </p:spTree>
    <p:extLst>
      <p:ext uri="{BB962C8B-B14F-4D97-AF65-F5344CB8AC3E}">
        <p14:creationId xmlns:p14="http://schemas.microsoft.com/office/powerpoint/2010/main" val="3306320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09D3134-D76B-44A5-B25F-7C9FB516AFC5}"/>
              </a:ext>
            </a:extLst>
          </p:cNvPr>
          <p:cNvSpPr/>
          <p:nvPr/>
        </p:nvSpPr>
        <p:spPr>
          <a:xfrm>
            <a:off x="16778" y="0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CREATE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TABLE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RESVEREQSTINFOTEMP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REQSTTEMP_ID         </a:t>
            </a:r>
            <a:r>
              <a:rPr lang="en-US" altLang="ko-KR" dirty="0">
                <a:solidFill>
                  <a:srgbClr val="FF00FF"/>
                </a:solidFill>
                <a:latin typeface="Courier New" panose="02070309020205020404" pitchFamily="49" charset="0"/>
              </a:rPr>
              <a:t>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20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NOT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REQST_ID             </a:t>
            </a:r>
            <a:r>
              <a:rPr lang="en-US" altLang="ko-KR" dirty="0">
                <a:solidFill>
                  <a:srgbClr val="FF00FF"/>
                </a:solidFill>
                <a:latin typeface="Courier New" panose="02070309020205020404" pitchFamily="49" charset="0"/>
              </a:rPr>
              <a:t>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20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RESVE_ID             </a:t>
            </a:r>
            <a:r>
              <a:rPr lang="en-US" altLang="ko-KR" dirty="0">
                <a:solidFill>
                  <a:srgbClr val="FF00FF"/>
                </a:solidFill>
                <a:latin typeface="Courier New" panose="02070309020205020404" pitchFamily="49" charset="0"/>
              </a:rPr>
              <a:t>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20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RESVE_DE   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CHARGER_NM 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50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TELNO      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15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EMAIL      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50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CONFM_SE_CODE        </a:t>
            </a:r>
            <a:r>
              <a:rPr lang="en-US" altLang="ko-KR" dirty="0">
                <a:solidFill>
                  <a:srgbClr val="FF00FF"/>
                </a:solidFill>
                <a:latin typeface="Courier New" panose="02070309020205020404" pitchFamily="49" charset="0"/>
              </a:rPr>
              <a:t>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sv-SE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CONFMER_ID           </a:t>
            </a:r>
            <a:r>
              <a:rPr lang="sv-SE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sv-SE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sv-SE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100</a:t>
            </a:r>
            <a:r>
              <a:rPr lang="sv-SE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sv-SE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sv-SE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RETURN_RESN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4000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CONFM_PNTTM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DATETIME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CREAT_IP      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20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USE_AT               </a:t>
            </a:r>
            <a:r>
              <a:rPr lang="en-US" altLang="ko-KR" dirty="0">
                <a:solidFill>
                  <a:srgbClr val="FF00FF"/>
                </a:solidFill>
                <a:latin typeface="Courier New" panose="02070309020205020404" pitchFamily="49" charset="0"/>
              </a:rPr>
              <a:t>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FRST_REGIST_PNTTM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DATETIME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FRST_REGISTER_ID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100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LAST_UPDT_PNTTM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DATETIME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LAST_UPDUSR_ID       </a:t>
            </a:r>
            <a:r>
              <a:rPr lang="en-US" altLang="ko-KR" b="1" dirty="0">
                <a:solidFill>
                  <a:srgbClr val="000000"/>
                </a:solidFill>
                <a:latin typeface="Courier New" panose="02070309020205020404" pitchFamily="49" charset="0"/>
              </a:rPr>
              <a:t>VARCHAR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100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NULL</a:t>
            </a:r>
            <a:endParaRPr lang="en-US" altLang="ko-KR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r>
              <a:rPr lang="en-US" altLang="ko-KR" dirty="0">
                <a:solidFill>
                  <a:srgbClr val="808080"/>
                </a:solidFill>
                <a:latin typeface="Courier New" panose="02070309020205020404" pitchFamily="49" charset="0"/>
              </a:rPr>
              <a:t>;</a:t>
            </a:r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ALTER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TABLE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RESVEREQSTINFOTEMP COMMENT </a:t>
            </a:r>
            <a:r>
              <a:rPr lang="en-US" altLang="ko-KR" dirty="0">
                <a:solidFill>
                  <a:srgbClr val="808080"/>
                </a:solidFill>
                <a:latin typeface="Courier New" panose="02070309020205020404" pitchFamily="49" charset="0"/>
              </a:rPr>
              <a:t>=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Courier New" panose="02070309020205020404" pitchFamily="49" charset="0"/>
              </a:rPr>
              <a:t>'</a:t>
            </a:r>
            <a:r>
              <a:rPr lang="ko-KR" altLang="en-US" dirty="0" err="1">
                <a:solidFill>
                  <a:srgbClr val="FF0000"/>
                </a:solidFill>
                <a:latin typeface="Courier New" panose="02070309020205020404" pitchFamily="49" charset="0"/>
              </a:rPr>
              <a:t>신청정보임시</a:t>
            </a:r>
            <a:r>
              <a:rPr lang="en-US" altLang="ko-KR" dirty="0">
                <a:solidFill>
                  <a:srgbClr val="FF0000"/>
                </a:solidFill>
                <a:latin typeface="Courier New" panose="02070309020205020404" pitchFamily="49" charset="0"/>
              </a:rPr>
              <a:t>'</a:t>
            </a:r>
            <a:r>
              <a:rPr lang="en-US" altLang="ko-KR" dirty="0">
                <a:solidFill>
                  <a:srgbClr val="808080"/>
                </a:solidFill>
                <a:latin typeface="Courier New" panose="02070309020205020404" pitchFamily="49" charset="0"/>
              </a:rPr>
              <a:t>;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3ABDEE3-A0EE-4B8F-8C16-1CBBF188C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6285" y="467948"/>
            <a:ext cx="2924175" cy="34671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CAD4D4B-A3EA-452A-998E-C7BC6B5EE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967" y="467948"/>
            <a:ext cx="1323975" cy="344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772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54036A3-087C-4036-962B-81EF8A7B996A}"/>
              </a:ext>
            </a:extLst>
          </p:cNvPr>
          <p:cNvSpPr/>
          <p:nvPr/>
        </p:nvSpPr>
        <p:spPr>
          <a:xfrm>
            <a:off x="103367" y="-306691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ko-KR" altLang="en-US" dirty="0">
              <a:latin typeface="Consolas" panose="020B0609020204030204" pitchFamily="49" charset="0"/>
            </a:endParaRPr>
          </a:p>
          <a:p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ALTER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TABLE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RESVEREQSTINFOTEMP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CHANGE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COLUMN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REQSTTEMP_ID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REQSTTEMP_ID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20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임시신청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ID’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altLang="ko-KR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b="1" dirty="0">
                <a:solidFill>
                  <a:srgbClr val="800000"/>
                </a:solidFill>
                <a:latin typeface="Consolas" panose="020B0609020204030204" pitchFamily="49" charset="0"/>
              </a:rPr>
              <a:t>이하 앞에 내용 </a:t>
            </a:r>
            <a:r>
              <a:rPr lang="ko-KR" altLang="en-US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전체동일</a:t>
            </a:r>
            <a:r>
              <a:rPr lang="ko-KR" altLang="en-US" b="1" dirty="0">
                <a:solidFill>
                  <a:srgbClr val="8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ALTER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TABLE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RESVEREQSTINFOTEMP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CHANGE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COLUMN ~~~)</a:t>
            </a:r>
            <a:endParaRPr lang="en-US" altLang="ko-KR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altLang="ko-KR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REQST_ID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REQST_ID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20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신청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ID'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RESVE_ID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RESVE_ID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20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예약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ID'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RESVE_DE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RESVE_DE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신청구분코드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CHARGER_NM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CHARGER_NM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50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신청자명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TELNO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TELNO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15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전화번호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EMAIL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EMAIL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50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이메일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CONFM_SE_CODE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CONFM_SE_CODE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승인구분코드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CONFMER_ID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CONFMER_ID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승인자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ID'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RETURN_RESN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RETURN_RESN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4000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반려사유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CONFM_PNTTM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CONFM_PNTTM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DATETIME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승인시점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CREAT_IP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CREAT_IP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20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생성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IP'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USE_AT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USE_AT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사용여부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FRST_REGIST_PNTTM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FRST_REGIST_PNTTM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DATETIME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최초등록시점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FRST_REGISTER_ID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FRST_REGISTER_ID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최초등록자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ID'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LAST_UPDT_PNTTM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LAST_UPDT_PNTTM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DATETIME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최종수정시점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LAST_UPDUSR_ID </a:t>
            </a:r>
            <a:r>
              <a:rPr lang="en-US" altLang="ko-KR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LAST_UPDUSR_ID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dirty="0">
                <a:solidFill>
                  <a:srgbClr val="000080"/>
                </a:solidFill>
                <a:latin typeface="Consolas" panose="020B0609020204030204" pitchFamily="49" charset="0"/>
              </a:rPr>
              <a:t>VARCHAR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ko-KR" b="1" dirty="0">
                <a:solidFill>
                  <a:srgbClr val="800000"/>
                </a:solidFill>
                <a:latin typeface="Consolas" panose="020B0609020204030204" pitchFamily="49" charset="0"/>
              </a:rPr>
              <a:t>NULL</a:t>
            </a:r>
            <a:r>
              <a:rPr lang="en-US" altLang="ko-KR" b="1" dirty="0">
                <a:solidFill>
                  <a:srgbClr val="000000"/>
                </a:solidFill>
                <a:latin typeface="Consolas" panose="020B0609020204030204" pitchFamily="49" charset="0"/>
              </a:rPr>
              <a:t> COMMENT 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'</a:t>
            </a:r>
            <a:r>
              <a:rPr lang="ko-KR" altLang="en-US" b="1" dirty="0">
                <a:solidFill>
                  <a:srgbClr val="008000"/>
                </a:solidFill>
                <a:latin typeface="Consolas" panose="020B0609020204030204" pitchFamily="49" charset="0"/>
              </a:rPr>
              <a:t>최종수정자</a:t>
            </a:r>
            <a:r>
              <a:rPr lang="en-US" altLang="ko-KR" b="1" dirty="0">
                <a:solidFill>
                  <a:srgbClr val="008000"/>
                </a:solidFill>
                <a:latin typeface="Consolas" panose="020B0609020204030204" pitchFamily="49" charset="0"/>
              </a:rPr>
              <a:t>ID'</a:t>
            </a:r>
            <a:r>
              <a:rPr lang="en-US" altLang="ko-KR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4071008-783A-4EF2-B3BD-CFF5CE89BD3B}"/>
              </a:ext>
            </a:extLst>
          </p:cNvPr>
          <p:cNvSpPr/>
          <p:nvPr/>
        </p:nvSpPr>
        <p:spPr>
          <a:xfrm>
            <a:off x="190831" y="1431233"/>
            <a:ext cx="357809" cy="42857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528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3B1371D-053D-45B9-B603-82DEAA920785}"/>
              </a:ext>
            </a:extLst>
          </p:cNvPr>
          <p:cNvSpPr/>
          <p:nvPr/>
        </p:nvSpPr>
        <p:spPr>
          <a:xfrm>
            <a:off x="288022" y="34125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INSERT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INTO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ids(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  TABLE_NAME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 ,NEXT_ID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altLang="ko-KR" dirty="0">
                <a:solidFill>
                  <a:srgbClr val="0000FF"/>
                </a:solidFill>
                <a:latin typeface="Courier New" panose="02070309020205020404" pitchFamily="49" charset="0"/>
              </a:rPr>
              <a:t>VALUES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(</a:t>
            </a: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ko-KR" dirty="0">
                <a:solidFill>
                  <a:srgbClr val="FF0000"/>
                </a:solidFill>
                <a:latin typeface="Courier New" panose="02070309020205020404" pitchFamily="49" charset="0"/>
              </a:rPr>
              <a:t>'RQTTEMP_ID'</a:t>
            </a:r>
            <a:endParaRPr lang="en-US" altLang="ko-KR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ko-KR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altLang="ko-KR" b="1" dirty="0">
                <a:solidFill>
                  <a:srgbClr val="800000"/>
                </a:solidFill>
                <a:latin typeface="Courier New" panose="02070309020205020404" pitchFamily="49" charset="0"/>
              </a:rPr>
              <a:t>1</a:t>
            </a:r>
            <a:endParaRPr lang="ko-KR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ko-KR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17564B-DE94-4559-91A8-917094DBF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72" y="2928080"/>
            <a:ext cx="6038850" cy="31146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6DB62D-A5B6-4448-8BB6-F4EA5D2DE0A5}"/>
              </a:ext>
            </a:extLst>
          </p:cNvPr>
          <p:cNvSpPr txBox="1"/>
          <p:nvPr/>
        </p:nvSpPr>
        <p:spPr>
          <a:xfrm>
            <a:off x="288022" y="2558748"/>
            <a:ext cx="2224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 context-idgen.xml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9097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8983CB5-681B-4AAD-AC8D-9C9FAB12A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72" y="393278"/>
            <a:ext cx="1495425" cy="3333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B901112-4FC2-4CCC-9789-BE1EB3480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72" y="1138719"/>
            <a:ext cx="3667125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053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4DAF7E-3178-4415-AA75-183B771ED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20" y="872763"/>
            <a:ext cx="10182225" cy="44767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4AB316E-AC09-41E7-9F3E-328A4A0CFE5E}"/>
              </a:ext>
            </a:extLst>
          </p:cNvPr>
          <p:cNvSpPr/>
          <p:nvPr/>
        </p:nvSpPr>
        <p:spPr>
          <a:xfrm>
            <a:off x="498620" y="283021"/>
            <a:ext cx="22227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globals.properties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2ACEBE7-8B0D-47DF-8414-821D099A3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88" y="6136829"/>
            <a:ext cx="3276600" cy="43815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D6871AA-5FF4-4C1A-A006-EDCA4B6E0DC4}"/>
              </a:ext>
            </a:extLst>
          </p:cNvPr>
          <p:cNvSpPr/>
          <p:nvPr/>
        </p:nvSpPr>
        <p:spPr>
          <a:xfrm>
            <a:off x="498620" y="2214784"/>
            <a:ext cx="26961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/>
              <a:t>context-properties.xml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707A920-8FA4-2DF3-AA29-42D3E3768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88" y="2714256"/>
            <a:ext cx="6747519" cy="321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455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BC307-992B-C9C8-9AB9-5E7A709E7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68AD2B-0E54-0C31-7875-C98527FBE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56" y="1198840"/>
            <a:ext cx="9547187" cy="29731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5E6484-9C43-850A-1DE9-EE64B357CC04}"/>
              </a:ext>
            </a:extLst>
          </p:cNvPr>
          <p:cNvSpPr txBox="1"/>
          <p:nvPr/>
        </p:nvSpPr>
        <p:spPr>
          <a:xfrm>
            <a:off x="410256" y="256206"/>
            <a:ext cx="107258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context-common.xml</a:t>
            </a:r>
            <a:endParaRPr lang="en-US" altLang="ko-KR" dirty="0"/>
          </a:p>
          <a:p>
            <a:r>
              <a:rPr lang="ko-KR" altLang="en-US" dirty="0" err="1"/>
              <a:t>엑셀업로드시에는</a:t>
            </a:r>
            <a:r>
              <a:rPr lang="ko-KR" altLang="en-US" dirty="0"/>
              <a:t> 밑에 부분이 주석처리 되어져 있다면 해당 부분 해제필요</a:t>
            </a:r>
          </a:p>
        </p:txBody>
      </p:sp>
    </p:spTree>
    <p:extLst>
      <p:ext uri="{BB962C8B-B14F-4D97-AF65-F5344CB8AC3E}">
        <p14:creationId xmlns:p14="http://schemas.microsoft.com/office/powerpoint/2010/main" val="2223445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EF06D0F-8B7E-6936-F562-94A9B216A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04" y="1711570"/>
            <a:ext cx="6974844" cy="25692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4728B2-B4DF-3304-19D6-20F4BA9BAA23}"/>
              </a:ext>
            </a:extLst>
          </p:cNvPr>
          <p:cNvSpPr txBox="1"/>
          <p:nvPr/>
        </p:nvSpPr>
        <p:spPr>
          <a:xfrm>
            <a:off x="500850" y="278395"/>
            <a:ext cx="11187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egov-com-servlet.xml에서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i="1" dirty="0"/>
              <a:t>org.springframework.web.servlet.mvc.method.annotation.RequestMappingHandlerAdapter </a:t>
            </a:r>
            <a:r>
              <a:rPr lang="ko-KR" altLang="en-US" i="1" dirty="0"/>
              <a:t>쪽에</a:t>
            </a:r>
            <a:endParaRPr lang="en-US" altLang="ko-KR" dirty="0"/>
          </a:p>
          <a:p>
            <a:r>
              <a:rPr lang="en-US" altLang="ko-KR" i="1" dirty="0" err="1"/>
              <a:t>messageConverters</a:t>
            </a:r>
            <a:r>
              <a:rPr lang="en-US" altLang="ko-KR" i="1" dirty="0"/>
              <a:t> </a:t>
            </a:r>
            <a:r>
              <a:rPr lang="ko-KR" altLang="en-US" i="1" dirty="0"/>
              <a:t>내용 추가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62222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071430D-4C46-4216-B95E-4A313F953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8" y="584912"/>
            <a:ext cx="2514600" cy="21621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A8CF555E-F950-477D-B487-BAF06FD4E103}"/>
              </a:ext>
            </a:extLst>
          </p:cNvPr>
          <p:cNvSpPr/>
          <p:nvPr/>
        </p:nvSpPr>
        <p:spPr>
          <a:xfrm>
            <a:off x="305898" y="132018"/>
            <a:ext cx="2805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JsonResponse</a:t>
            </a:r>
            <a:r>
              <a:rPr lang="en-US" altLang="ko-KR" dirty="0"/>
              <a:t>.java </a:t>
            </a:r>
            <a:r>
              <a:rPr lang="ko-KR" altLang="en-US" dirty="0"/>
              <a:t>생성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1179B6-39F4-49F4-B983-AB02D02F9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067" y="501350"/>
            <a:ext cx="7305675" cy="5715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B5B44926-23C3-4149-82AF-B78FA23CFAAF}"/>
              </a:ext>
            </a:extLst>
          </p:cNvPr>
          <p:cNvSpPr/>
          <p:nvPr/>
        </p:nvSpPr>
        <p:spPr>
          <a:xfrm>
            <a:off x="4137738" y="132018"/>
            <a:ext cx="20617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엑셀업로드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</p:txBody>
      </p:sp>
    </p:spTree>
    <p:extLst>
      <p:ext uri="{BB962C8B-B14F-4D97-AF65-F5344CB8AC3E}">
        <p14:creationId xmlns:p14="http://schemas.microsoft.com/office/powerpoint/2010/main" val="4024307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BCAE556-675D-F7E6-473D-C817B9A1D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24" y="558438"/>
            <a:ext cx="5858476" cy="34779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7D68222-CF84-97AE-8D7D-2A612E7C4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977" y="1665514"/>
            <a:ext cx="4459443" cy="75450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C1DB2A8-C652-488A-AA88-166DA395614D}"/>
              </a:ext>
            </a:extLst>
          </p:cNvPr>
          <p:cNvSpPr/>
          <p:nvPr/>
        </p:nvSpPr>
        <p:spPr>
          <a:xfrm>
            <a:off x="174929" y="1204713"/>
            <a:ext cx="46819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ReservationApplyServiceImpl</a:t>
            </a:r>
            <a:r>
              <a:rPr lang="en-US" altLang="ko-KR" dirty="0"/>
              <a:t>.java </a:t>
            </a:r>
            <a:r>
              <a:rPr lang="ko-KR" altLang="en-US" dirty="0"/>
              <a:t>에 추가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015650A-87A3-4D04-8301-06A5F64E1970}"/>
              </a:ext>
            </a:extLst>
          </p:cNvPr>
          <p:cNvSpPr/>
          <p:nvPr/>
        </p:nvSpPr>
        <p:spPr>
          <a:xfrm>
            <a:off x="174929" y="75295"/>
            <a:ext cx="4221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ReservationApplyService</a:t>
            </a:r>
            <a:r>
              <a:rPr lang="en-US" altLang="ko-KR" dirty="0"/>
              <a:t>.java </a:t>
            </a:r>
            <a:r>
              <a:rPr lang="ko-KR" altLang="en-US" dirty="0"/>
              <a:t>에 추가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F68CAC7-396A-CADA-F5ED-CDCF29C5C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977" y="2511486"/>
            <a:ext cx="7459435" cy="2689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15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6F68-17BA-D5C0-7E73-4FA6B3D12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3BB015-AA97-A804-F8DC-ACC1A6119345}"/>
              </a:ext>
            </a:extLst>
          </p:cNvPr>
          <p:cNvSpPr/>
          <p:nvPr/>
        </p:nvSpPr>
        <p:spPr>
          <a:xfrm>
            <a:off x="174929" y="75295"/>
            <a:ext cx="61811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 err="1"/>
              <a:t>ReservationApply</a:t>
            </a:r>
            <a:r>
              <a:rPr lang="en-US" altLang="ko-KR" dirty="0"/>
              <a:t>DAO.java </a:t>
            </a:r>
            <a:r>
              <a:rPr lang="ko-KR" altLang="en-US" dirty="0"/>
              <a:t>에 추가 및 </a:t>
            </a:r>
            <a:r>
              <a:rPr lang="en-US" altLang="ko-KR" dirty="0"/>
              <a:t>Mapper(SQL)</a:t>
            </a:r>
            <a:r>
              <a:rPr lang="ko-KR" altLang="en-US" dirty="0"/>
              <a:t>작업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A11981-527A-074A-9206-D41038555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11" y="444627"/>
            <a:ext cx="5345759" cy="288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068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3367</TotalTime>
  <Words>626</Words>
  <Application>Microsoft Office PowerPoint</Application>
  <PresentationFormat>와이드스크린</PresentationFormat>
  <Paragraphs>86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Arial</vt:lpstr>
      <vt:lpstr>Consolas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</dc:creator>
  <cp:lastModifiedBy>성진 문</cp:lastModifiedBy>
  <cp:revision>53</cp:revision>
  <dcterms:created xsi:type="dcterms:W3CDTF">2021-08-31T12:05:11Z</dcterms:created>
  <dcterms:modified xsi:type="dcterms:W3CDTF">2025-11-13T06:48:52Z</dcterms:modified>
</cp:coreProperties>
</file>